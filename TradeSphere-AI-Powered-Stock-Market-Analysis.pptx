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5.png"/><Relationship Id="rId8" Type="http://schemas.openxmlformats.org/officeDocument/2006/relationships/image" Target="../media/image-2-6.sv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image" Target="../media/image-4-2.png"/><Relationship Id="rId11" Type="http://schemas.openxmlformats.org/officeDocument/2006/relationships/image" Target="../media/image-4-3.svg"/><Relationship Id="rId12" Type="http://schemas.openxmlformats.org/officeDocument/2006/relationships/image" Target="../media/image-4-12.png"/><Relationship Id="rId13" Type="http://schemas.openxmlformats.org/officeDocument/2006/relationships/image" Target="../media/image-4-13.svg"/><Relationship Id="rId14" Type="http://schemas.openxmlformats.org/officeDocument/2006/relationships/image" Target="../media/image-4-2.png"/><Relationship Id="rId15" Type="http://schemas.openxmlformats.org/officeDocument/2006/relationships/image" Target="../media/image-4-3.svg"/><Relationship Id="rId16" Type="http://schemas.openxmlformats.org/officeDocument/2006/relationships/image" Target="../media/image-4-16.png"/><Relationship Id="rId17" Type="http://schemas.openxmlformats.org/officeDocument/2006/relationships/image" Target="../media/image-4-17.sv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TradeSphere: AI-Powered Stock Market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Intelligent market intelligence by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Tech Vision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redefining how investors analyze, predict, and act.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6309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Problem: Manual Analysis Bottleneck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646734"/>
            <a:ext cx="2550949" cy="19419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7354" y="1826419"/>
            <a:ext cx="2115390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⏱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5+ Hours Daily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917354" y="2220317"/>
            <a:ext cx="2115390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Retail investors spend the majority of their day manually reviewing charts — time that rarely converts to better outcomes.</a:t>
            </a:r>
            <a:endParaRPr lang="en-US" sz="1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8946" y="1646734"/>
            <a:ext cx="2550949" cy="19419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04825" y="1826419"/>
            <a:ext cx="2115390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📉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Expertise Gap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3604825" y="2220317"/>
            <a:ext cx="2115390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Technical indicators like RSI, MACD, and Bollinger Bands require years of experience to interpret correctly under pressure.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725168"/>
            <a:ext cx="2550949" cy="21929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7354" y="3904853"/>
            <a:ext cx="2115390" cy="508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Markets Outpace Humans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917354" y="4549775"/>
            <a:ext cx="2115390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Price-sensitive events resolve in milliseconds. Manual decision-making simply cannot keep pace with modern market velocity.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48946" y="3725168"/>
            <a:ext cx="2550949" cy="219293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604825" y="3904853"/>
            <a:ext cx="2115390" cy="508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🌊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Information Overload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3604825" y="4549775"/>
            <a:ext cx="2115390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Hundreds of data signals, news feeds, and indicators compete for attention — leading to paralysis and missed opportunities.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8149" y="1646734"/>
            <a:ext cx="4452628" cy="320506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298149" y="5005388"/>
            <a:ext cx="523842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automation reduces daily analysis time by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90%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while lifting accuracy from 62% to 94% — a decisive efficiency advantage.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65249"/>
            <a:ext cx="6296860" cy="359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Solution: TradeSphere AI Engine</a:t>
            </a:r>
            <a:endParaRPr lang="en-US" sz="2250" dirty="0"/>
          </a:p>
        </p:txBody>
      </p:sp>
      <p:sp>
        <p:nvSpPr>
          <p:cNvPr id="4" name="Shape 1"/>
          <p:cNvSpPr/>
          <p:nvPr/>
        </p:nvSpPr>
        <p:spPr>
          <a:xfrm>
            <a:off x="5233360" y="1030387"/>
            <a:ext cx="6296860" cy="613073"/>
          </a:xfrm>
          <a:prstGeom prst="roundRect">
            <a:avLst>
              <a:gd name="adj" fmla="val 789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54801" y="1151830"/>
            <a:ext cx="605397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Analysis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354801" y="1373783"/>
            <a:ext cx="605397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ML-powered technical indicator scanning across live market feeds — no manual effort required.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233360" y="1713607"/>
            <a:ext cx="6296860" cy="613073"/>
          </a:xfrm>
          <a:prstGeom prst="roundRect">
            <a:avLst>
              <a:gd name="adj" fmla="val 789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54801" y="1835051"/>
            <a:ext cx="605397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500+ Stocks Monitored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354801" y="2057003"/>
            <a:ext cx="605397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pattern recognition runs continuously across a broad universe of equities and instruments.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233360" y="2396827"/>
            <a:ext cx="6296860" cy="613073"/>
          </a:xfrm>
          <a:prstGeom prst="roundRect">
            <a:avLst>
              <a:gd name="adj" fmla="val 789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54801" y="2518271"/>
            <a:ext cx="605397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89–94% Accuracy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354801" y="2740223"/>
            <a:ext cx="605397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Predictive buy/sell alerts backed by continuously refined ML models trained on market history.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233360" y="3080048"/>
            <a:ext cx="6296860" cy="613073"/>
          </a:xfrm>
          <a:prstGeom prst="roundRect">
            <a:avLst>
              <a:gd name="adj" fmla="val 789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54801" y="3201491"/>
            <a:ext cx="605397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Intuitive Dashboard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354801" y="3423444"/>
            <a:ext cx="605397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Clean, data-driven interface designed for confident, rapid decision-making at any experience level.</a:t>
            </a:r>
            <a:endParaRPr lang="en-US" sz="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360" y="3771999"/>
            <a:ext cx="4092869" cy="229354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33360" y="6144419"/>
            <a:ext cx="6906444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Accuracy climbed from </a:t>
            </a:r>
            <a:pPr algn="l" indent="0" marL="0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72% → 94%</a:t>
            </a:r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as the model matured, driving user adoption from 1,200 to </a:t>
            </a:r>
            <a:pPr algn="l" indent="0" marL="0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15,600</a:t>
            </a:r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within a single year.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 Stack: Enterprise-Grade Architecture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3390106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It All Connects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3584972"/>
            <a:ext cx="531908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TradeSphere is built on a modern, scalable architecture where every layer is optimized for performance, reliability, and intelligence.</a:t>
            </a:r>
            <a:endParaRPr lang="en-US" sz="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487" y="939006"/>
            <a:ext cx="5319083" cy="531921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6364387"/>
            <a:ext cx="2681717" cy="853281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31443" y="6444754"/>
            <a:ext cx="141681" cy="1416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8628" y="6707783"/>
            <a:ext cx="246740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768628" y="6883698"/>
            <a:ext cx="2467409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+ TensorFlow — high-performance ML model training and inference at scale.</a:t>
            </a:r>
            <a:endParaRPr lang="en-US" sz="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90418" y="6364387"/>
            <a:ext cx="2681816" cy="853281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60486" y="6444754"/>
            <a:ext cx="141681" cy="14168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3497572" y="6707783"/>
            <a:ext cx="246750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Frontend</a:t>
            </a:r>
            <a:endParaRPr lang="en-US" sz="900" dirty="0"/>
          </a:p>
        </p:txBody>
      </p:sp>
      <p:sp>
        <p:nvSpPr>
          <p:cNvPr id="13" name="Text 6"/>
          <p:cNvSpPr/>
          <p:nvPr/>
        </p:nvSpPr>
        <p:spPr>
          <a:xfrm>
            <a:off x="3497572" y="6883698"/>
            <a:ext cx="2467509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— responsive, component-driven UI delivering real-time data with a seamless user experience.</a:t>
            </a:r>
            <a:endParaRPr lang="en-US" sz="7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19461" y="6364387"/>
            <a:ext cx="2681717" cy="853281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389429" y="6444754"/>
            <a:ext cx="141681" cy="141684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6226615" y="6707783"/>
            <a:ext cx="246740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Database</a:t>
            </a:r>
            <a:endParaRPr lang="en-US" sz="900" dirty="0"/>
          </a:p>
        </p:txBody>
      </p:sp>
      <p:sp>
        <p:nvSpPr>
          <p:cNvPr id="17" name="Text 8"/>
          <p:cNvSpPr/>
          <p:nvPr/>
        </p:nvSpPr>
        <p:spPr>
          <a:xfrm>
            <a:off x="6226615" y="6883698"/>
            <a:ext cx="2467409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PostgreSQL — reliable relational storage optimized for high-frequency financial data ingestion.</a:t>
            </a:r>
            <a:endParaRPr lang="en-US" sz="7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848404" y="6364387"/>
            <a:ext cx="2681816" cy="853281"/>
          </a:xfrm>
          <a:prstGeom prst="rect">
            <a:avLst/>
          </a:prstGeom>
        </p:spPr>
      </p:pic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118472" y="6444754"/>
            <a:ext cx="141681" cy="141684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8955558" y="6707783"/>
            <a:ext cx="246750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21" name="Text 10"/>
          <p:cNvSpPr/>
          <p:nvPr/>
        </p:nvSpPr>
        <p:spPr>
          <a:xfrm>
            <a:off x="8955558" y="6883698"/>
            <a:ext cx="2467509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AWS — elastic cloud infrastructure ensuring global scalability, uptime, and disaster resilience.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2026-08-20T13:35:02Z</dcterms:created>
  <dcterms:modified xsi:type="dcterms:W3CDTF">2026-08-20T13:35:02Z</dcterms:modified>
</cp:coreProperties>
</file>